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notesMasterIdLst>
    <p:notesMasterId r:id="rId2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image" Target="../media/image2.png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image" Target="../media/image3.png"/><Relationship Id="rId2" Type="http://schemas.openxmlformats.org/officeDocument/2006/relationships/tags" Target="../tags/tag1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58.xml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image" Target="../media/image1.png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4" y="857250"/>
            <a:ext cx="9129713" cy="5143500"/>
          </a:xfrm>
          <a:prstGeom prst="rect">
            <a:avLst/>
          </a:prstGeom>
        </p:spPr>
      </p:pic>
      <p:sp>
        <p:nvSpPr>
          <p:cNvPr id="9" name="标题"/>
          <p:cNvSpPr txBox="1">
            <a:spLocks noGrp="1"/>
          </p:cNvSpPr>
          <p:nvPr>
            <p:ph type="title" idx="3" hasCustomPrompt="1"/>
            <p:custDataLst>
              <p:tags r:id="rId4"/>
            </p:custDataLst>
          </p:nvPr>
        </p:nvSpPr>
        <p:spPr>
          <a:xfrm>
            <a:off x="771049" y="1213009"/>
            <a:ext cx="6493193" cy="213645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05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latin typeface="+mj-lt"/>
                <a:sym typeface="+mn-ea"/>
              </a:rPr>
              <a:t>Click to add title</a:t>
            </a:r>
            <a:endParaRPr>
              <a:latin typeface="+mj-lt"/>
              <a:sym typeface="+mn-ea"/>
            </a:endParaRPr>
          </a:p>
        </p:txBody>
      </p:sp>
      <p:sp>
        <p:nvSpPr>
          <p:cNvPr id="8" name="副标题"/>
          <p:cNvSpPr txBox="1">
            <a:spLocks noGrp="1"/>
          </p:cNvSpPr>
          <p:nvPr>
            <p:ph type="body" idx="2" hasCustomPrompt="1"/>
            <p:custDataLst>
              <p:tags r:id="rId5"/>
            </p:custDataLst>
          </p:nvPr>
        </p:nvSpPr>
        <p:spPr>
          <a:xfrm>
            <a:off x="771525" y="3387566"/>
            <a:ext cx="5397341" cy="5162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05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>
              <a:buClrTx/>
              <a:buSzTx/>
              <a:buFontTx/>
            </a:pPr>
            <a:r>
              <a:rPr>
                <a:latin typeface="+mj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771525" y="4050506"/>
            <a:ext cx="3196590" cy="4686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200" b="0" i="0" u="none" strike="noStrike" kern="1200" cap="none" spc="0" normalizeH="0" baseline="0" noProof="1" dirty="0">
                <a:solidFill>
                  <a:schemeClr val="accent6"/>
                </a:solidFill>
                <a:latin typeface="+mn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2"/>
            </p:custDataLst>
          </p:nvPr>
        </p:nvSpPr>
        <p:spPr>
          <a:xfrm>
            <a:off x="456300" y="1313550"/>
            <a:ext cx="8226900" cy="5292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0" i="0" u="none" strike="noStrike" kern="1200" cap="none" spc="0" normalizeH="0" baseline="0" noProof="1" dirty="0">
                <a:solidFill>
                  <a:schemeClr val="tx1"/>
                </a:solidFill>
                <a:uFillTx/>
                <a:latin typeface="+mj-lt"/>
                <a:sym typeface="+mn-ea"/>
              </a:defRPr>
            </a:lvl1pPr>
          </a:lstStyle>
          <a:p>
            <a:pPr lvl="0"/>
            <a:r>
              <a:rPr>
                <a:latin typeface="+mj-lt"/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13" hasCustomPrompt="1"/>
            <p:custDataLst>
              <p:tags r:id="rId6"/>
            </p:custDataLst>
          </p:nvPr>
        </p:nvSpPr>
        <p:spPr>
          <a:xfrm>
            <a:off x="456010" y="1977629"/>
            <a:ext cx="8227219" cy="3403997"/>
          </a:xfrm>
        </p:spPr>
        <p:txBody>
          <a:bodyPr vert="horz" lIns="91440" tIns="45720" rIns="91440" bIns="45720" rtlCol="0">
            <a:normAutofit/>
          </a:bodyPr>
          <a:lstStyle>
            <a:lvl1pPr eaLnBrk="1" fontAlgn="auto" latinLnBrk="0" hangingPunct="1">
              <a:defRPr lang="en-US" u="none" strike="noStrike" kern="1200" cap="none" spc="0" normalizeH="0" dirty="0" smtClean="0">
                <a:solidFill>
                  <a:schemeClr val="tx1"/>
                </a:solidFill>
                <a:uFillTx/>
                <a:latin typeface="+mn-lt"/>
              </a:defRPr>
            </a:lvl1pPr>
            <a:lvl2pPr>
              <a:defRPr lang="en-US" dirty="0" smtClean="0">
                <a:latin typeface="+mn-lt"/>
              </a:defRPr>
            </a:lvl2pPr>
            <a:lvl3pPr>
              <a:defRPr lang="en-US" dirty="0" smtClean="0">
                <a:latin typeface="+mn-lt"/>
              </a:defRPr>
            </a:lvl3pPr>
            <a:lvl4pPr>
              <a:defRPr 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8" y="857250"/>
            <a:ext cx="9129713" cy="5143500"/>
          </a:xfrm>
          <a:prstGeom prst="rect">
            <a:avLst/>
          </a:prstGeom>
        </p:spPr>
      </p:pic>
      <p:sp>
        <p:nvSpPr>
          <p:cNvPr id="7" name="标题"/>
          <p:cNvSpPr txBox="1">
            <a:spLocks noGrp="1"/>
          </p:cNvSpPr>
          <p:nvPr>
            <p:ph type="title" idx="2" hasCustomPrompt="1"/>
            <p:custDataLst>
              <p:tags r:id="rId4"/>
            </p:custDataLst>
          </p:nvPr>
        </p:nvSpPr>
        <p:spPr>
          <a:xfrm>
            <a:off x="739140" y="1212533"/>
            <a:ext cx="4468654" cy="810578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300" b="1" i="0" u="none" strike="noStrike" kern="1200" cap="none" spc="0" normalizeH="0" baseline="0" noProof="1" dirty="0">
                <a:solidFill>
                  <a:schemeClr val="tx1"/>
                </a:solidFill>
                <a:uFillTx/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4" y="857250"/>
            <a:ext cx="9136856" cy="5143500"/>
          </a:xfrm>
          <a:prstGeom prst="rect">
            <a:avLst/>
          </a:prstGeom>
        </p:spPr>
      </p:pic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628650" y="1637348"/>
            <a:ext cx="6259830" cy="296370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050" b="0" i="0" u="none" strike="noStrike" kern="1200" cap="none" spc="0" normalizeH="0" baseline="0" noProof="1" dirty="0">
                <a:solidFill>
                  <a:schemeClr val="tx1"/>
                </a:solidFill>
                <a:uFillTx/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latin typeface="+mj-lt"/>
                <a:sym typeface="+mn-ea"/>
              </a:rPr>
              <a:t>Click to add title</a:t>
            </a:r>
            <a:endParaRPr>
              <a:latin typeface="+mj-lt"/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文"/>
          <p:cNvSpPr txBox="1">
            <a:spLocks noGrp="1"/>
          </p:cNvSpPr>
          <p:nvPr>
            <p:ph idx="3" hasCustomPrompt="1"/>
            <p:custDataLst>
              <p:tags r:id="rId2"/>
            </p:custDataLst>
          </p:nvPr>
        </p:nvSpPr>
        <p:spPr>
          <a:xfrm>
            <a:off x="4800604" y="1975018"/>
            <a:ext cx="3882600" cy="3569427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35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514350" marR="0" lvl="1" indent="-17145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kern="1200" cap="none" spc="150" normalizeH="0" baseline="0" noProof="1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  <a:sym typeface="+mn-ea"/>
              </a:defRPr>
            </a:lvl2pPr>
            <a:lvl3pPr marL="857250" marR="0" lvl="2" indent="-17145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kern="1200" cap="none" spc="150" normalizeH="0" baseline="0" noProof="1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  <a:sym typeface="+mn-ea"/>
              </a:defRPr>
            </a:lvl3pPr>
            <a:lvl4pPr marL="1200150" marR="0" lvl="3" indent="-17145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kern="1200" cap="none" spc="150" normalizeH="0" baseline="0" noProof="1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  <a:sym typeface="+mn-ea"/>
              </a:defRPr>
            </a:lvl4pPr>
            <a:lvl5pPr marL="1543050" marR="0" lvl="4" indent="-17145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kern="1200" cap="none" spc="150" normalizeH="0" baseline="0" noProof="1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  <a:sym typeface="+mn-ea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latin typeface="+mn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2" hasCustomPrompt="1"/>
            <p:custDataLst>
              <p:tags r:id="rId3"/>
            </p:custDataLst>
          </p:nvPr>
        </p:nvSpPr>
        <p:spPr>
          <a:xfrm>
            <a:off x="456300" y="1975018"/>
            <a:ext cx="3882600" cy="3569427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35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2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05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latin typeface="+mn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456300" y="1313550"/>
            <a:ext cx="8226900" cy="5292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文"/>
          <p:cNvSpPr txBox="1">
            <a:spLocks noGrp="1"/>
          </p:cNvSpPr>
          <p:nvPr>
            <p:ph idx="5" hasCustomPrompt="1"/>
            <p:custDataLst>
              <p:tags r:id="rId2"/>
            </p:custDataLst>
          </p:nvPr>
        </p:nvSpPr>
        <p:spPr>
          <a:xfrm>
            <a:off x="4676400" y="2247750"/>
            <a:ext cx="4006800" cy="32967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35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2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05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latin typeface="+mn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13" name="标题"/>
          <p:cNvSpPr txBox="1">
            <a:spLocks noGrp="1"/>
          </p:cNvSpPr>
          <p:nvPr>
            <p:ph type="title" idx="4" hasCustomPrompt="1"/>
            <p:custDataLst>
              <p:tags r:id="rId3"/>
            </p:custDataLst>
          </p:nvPr>
        </p:nvSpPr>
        <p:spPr>
          <a:xfrm>
            <a:off x="4676400" y="1929150"/>
            <a:ext cx="4006800" cy="30008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5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>
                <a:latin typeface="+mj-lt"/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12" name="正文"/>
          <p:cNvSpPr txBox="1">
            <a:spLocks noGrp="1"/>
          </p:cNvSpPr>
          <p:nvPr>
            <p:ph idx="3" hasCustomPrompt="1"/>
            <p:custDataLst>
              <p:tags r:id="rId4"/>
            </p:custDataLst>
          </p:nvPr>
        </p:nvSpPr>
        <p:spPr>
          <a:xfrm>
            <a:off x="456300" y="2247750"/>
            <a:ext cx="4006800" cy="32967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35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2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05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latin typeface="+mn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11" name="标题"/>
          <p:cNvSpPr txBox="1">
            <a:spLocks noGrp="1"/>
          </p:cNvSpPr>
          <p:nvPr>
            <p:ph type="title" idx="2" hasCustomPrompt="1"/>
            <p:custDataLst>
              <p:tags r:id="rId5"/>
            </p:custDataLst>
          </p:nvPr>
        </p:nvSpPr>
        <p:spPr>
          <a:xfrm>
            <a:off x="456300" y="1929150"/>
            <a:ext cx="4006800" cy="29908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5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>
                <a:latin typeface="+mj-lt"/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 hasCustomPrompt="1"/>
            <p:custDataLst>
              <p:tags r:id="rId6"/>
            </p:custDataLst>
          </p:nvPr>
        </p:nvSpPr>
        <p:spPr>
          <a:xfrm>
            <a:off x="456300" y="1313550"/>
            <a:ext cx="8226900" cy="5292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>
                <a:latin typeface="+mj-lt"/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2"/>
            </p:custDataLst>
          </p:nvPr>
        </p:nvSpPr>
        <p:spPr>
          <a:xfrm>
            <a:off x="456300" y="1313550"/>
            <a:ext cx="8226900" cy="5292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</a:defRPr>
            </a:lvl1pPr>
          </a:lstStyle>
          <a:p>
            <a:pPr lvl="0"/>
            <a:r>
              <a:rPr>
                <a:latin typeface="+mj-lt"/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521970" y="1127284"/>
            <a:ext cx="8101489" cy="4363403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35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2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05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latin typeface="+mn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2"/>
            </p:custDataLst>
          </p:nvPr>
        </p:nvSpPr>
        <p:spPr>
          <a:xfrm>
            <a:off x="456248" y="1842611"/>
            <a:ext cx="8099316" cy="30416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5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algn="l"/>
            <a:r>
              <a:rPr>
                <a:latin typeface="+mj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3"/>
            </p:custDataLst>
          </p:nvPr>
        </p:nvSpPr>
        <p:spPr>
          <a:xfrm>
            <a:off x="456300" y="1313550"/>
            <a:ext cx="8226900" cy="5292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>
                <a:latin typeface="+mj-lt"/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4" y="857250"/>
            <a:ext cx="9129713" cy="5143500"/>
          </a:xfrm>
          <a:prstGeom prst="rect">
            <a:avLst/>
          </a:prstGeom>
        </p:spPr>
      </p:pic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4"/>
            </p:custDataLst>
          </p:nvPr>
        </p:nvSpPr>
        <p:spPr>
          <a:xfrm>
            <a:off x="771525" y="2032159"/>
            <a:ext cx="5397341" cy="164353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050" b="0" i="0" u="none" strike="noStrike" kern="1200" cap="none" spc="0" normalizeH="0" baseline="0" noProof="1" dirty="0">
                <a:solidFill>
                  <a:schemeClr val="tx1"/>
                </a:solidFill>
                <a:uFillTx/>
                <a:latin typeface="+mj-lt"/>
                <a:sym typeface="+mn-ea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771525" y="3830003"/>
            <a:ext cx="3433763" cy="367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200" b="0" i="0" u="none" strike="noStrike" kern="1200" cap="none" spc="0" normalizeH="0" baseline="0" noProof="1" dirty="0">
                <a:solidFill>
                  <a:schemeClr val="accent6"/>
                </a:solidFill>
                <a:latin typeface="+mn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65.xml"/><Relationship Id="rId18" Type="http://schemas.openxmlformats.org/officeDocument/2006/relationships/image" Target="../media/image4.png"/><Relationship Id="rId17" Type="http://schemas.openxmlformats.org/officeDocument/2006/relationships/tags" Target="../tags/tag64.xml"/><Relationship Id="rId16" Type="http://schemas.openxmlformats.org/officeDocument/2006/relationships/tags" Target="../tags/tag63.xml"/><Relationship Id="rId15" Type="http://schemas.openxmlformats.org/officeDocument/2006/relationships/tags" Target="../tags/tag62.xml"/><Relationship Id="rId14" Type="http://schemas.openxmlformats.org/officeDocument/2006/relationships/tags" Target="../tags/tag61.xml"/><Relationship Id="rId13" Type="http://schemas.openxmlformats.org/officeDocument/2006/relationships/tags" Target="../tags/tag60.xml"/><Relationship Id="rId12" Type="http://schemas.openxmlformats.org/officeDocument/2006/relationships/tags" Target="../tags/tag5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>
          <a:xfrm>
            <a:off x="521970" y="5624513"/>
            <a:ext cx="2057400" cy="273844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6565487" y="5624513"/>
            <a:ext cx="2057400" cy="273844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565CE74E-AB26-4998-AD42-012C4C1AD076}" type="slidenum">
              <a:rPr lang="en-US" smtClean="0"/>
            </a:fld>
            <a:endParaRPr lang="en-US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521970" y="1127250"/>
            <a:ext cx="8100000" cy="54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 fontAlgn="auto">
              <a:lnSpc>
                <a:spcPct val="100000"/>
              </a:lnSpc>
              <a:buClrTx/>
              <a:buSzTx/>
              <a:buFontTx/>
            </a:pPr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2pPr marR="0" lvl="1" indent="-17145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kern="1200" cap="none" spc="150" normalizeH="0" baseline="0" noProof="1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  <a:sym typeface="+mn-ea"/>
              </a:defRPr>
            </a:lvl2pPr>
            <a:lvl3pPr marR="0" lvl="2" indent="-17145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kern="1200" cap="none" spc="150" normalizeH="0" baseline="0" noProof="1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  <a:sym typeface="+mn-ea"/>
              </a:defRPr>
            </a:lvl3pPr>
            <a:lvl4pPr marR="0" lvl="3" indent="-17145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kern="1200" cap="none" spc="150" normalizeH="0" baseline="0" noProof="1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  <a:sym typeface="+mn-ea"/>
              </a:defRPr>
            </a:lvl4pPr>
            <a:lvl5pPr marR="0" lvl="4" indent="-17145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kern="1200" cap="none" spc="150" normalizeH="0" baseline="0" noProof="1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4" y="857250"/>
            <a:ext cx="9129713" cy="5143500"/>
          </a:xfrm>
          <a:prstGeom prst="rect">
            <a:avLst/>
          </a:prstGeom>
        </p:spPr>
      </p:pic>
      <p:sp>
        <p:nvSpPr>
          <p:cNvPr id="2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0" lang="en-US" sz="2400" b="0" i="0" u="none" strike="noStrike" kern="1200" cap="none" spc="300" normalizeH="0" baseline="0" smtClean="0">
          <a:ln>
            <a:noFill/>
            <a:prstDash val="sysDot"/>
          </a:ln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ea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ea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ea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ea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00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04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tags" Target="../tags/tag113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tags" Target="../tags/tag117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24.xml"/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tags" Target="../tags/tag121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28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标题 2"/>
          <p:cNvSpPr>
            <a:spLocks noGrp="1"/>
          </p:cNvSpPr>
          <p:nvPr>
            <p:ph type="title" idx="3"/>
            <p:custDataLst>
              <p:tags r:id="rId1"/>
            </p:custDataLst>
          </p:nvPr>
        </p:nvSpPr>
        <p:spPr>
          <a:xfrm>
            <a:off x="770890" y="1953895"/>
            <a:ext cx="6493510" cy="1002665"/>
          </a:xfrm>
        </p:spPr>
        <p:txBody>
          <a:bodyPr/>
          <a:lstStyle/>
          <a:p>
            <a:r>
              <a:rPr lang="en-US" altLang="en-US" sz="2800">
                <a:latin typeface="+mj-lt"/>
                <a:ea typeface="+mj-ea"/>
              </a:rPr>
              <a:t>AWS Web </a:t>
            </a:r>
            <a:r>
              <a:rPr lang="en-US" altLang="en-US" sz="2800">
                <a:latin typeface="+mj-lt"/>
                <a:ea typeface="+mj-ea"/>
              </a:rPr>
              <a:t>Application Firewall</a:t>
            </a:r>
            <a:endParaRPr lang="en-US" altLang="en-US" sz="2800">
              <a:latin typeface="+mj-lt"/>
              <a:ea typeface="+mj-ea"/>
            </a:endParaRPr>
          </a:p>
        </p:txBody>
      </p:sp>
      <p:sp>
        <p:nvSpPr>
          <p:cNvPr id="10" name="文本占位符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71525" y="4050506"/>
            <a:ext cx="3196590" cy="46863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>
            <a:lvl1pPr marL="0" marR="0" lvl="0" indent="-171450" algn="l" defTabSz="914400" rtl="0" eaLnBrk="1" fontAlgn="auto" latinLnBrk="0" hangingPunct="1">
              <a:lnSpc>
                <a:spcPct val="100000"/>
              </a:lnSpc>
              <a:spcBef>
                <a:spcPts val="750"/>
              </a:spcBef>
              <a:buClrTx/>
              <a:buSzTx/>
              <a:buFontTx/>
              <a:buNone/>
              <a:defRPr kumimoji="0" lang="en-US" sz="1200" b="0" i="0" u="none" strike="noStrike" kern="1200" cap="none" spc="0" normalizeH="0" baseline="0" noProof="1" dirty="0">
                <a:solidFill>
                  <a:schemeClr val="accent6"/>
                </a:solidFill>
                <a:latin typeface="+mn-lt"/>
                <a:sym typeface="+mn-ea"/>
              </a:defRPr>
            </a:lvl1pPr>
            <a:lvl2pPr marL="514350" marR="0" lvl="1" indent="-17145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kern="1200" cap="none" spc="150" normalizeH="0" baseline="0" noProof="1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  <a:sym typeface="+mn-ea"/>
              </a:defRPr>
            </a:lvl2pPr>
            <a:lvl3pPr marL="857250" marR="0" lvl="2" indent="-17145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kern="1200" cap="none" spc="150" normalizeH="0" baseline="0" noProof="1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  <a:sym typeface="+mn-ea"/>
              </a:defRPr>
            </a:lvl3pPr>
            <a:lvl4pPr marL="1200150" marR="0" lvl="3" indent="-17145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kern="1200" cap="none" spc="150" normalizeH="0" baseline="0" noProof="1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  <a:sym typeface="+mn-ea"/>
              </a:defRPr>
            </a:lvl4pPr>
            <a:lvl5pPr marL="1543050" marR="0" lvl="4" indent="-17145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kern="1200" cap="none" spc="150" normalizeH="0" baseline="0" noProof="1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  <a:sym typeface="+mn-ea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>
                <a:solidFill>
                  <a:schemeClr val="accent6"/>
                </a:solidFill>
                <a:latin typeface="+mn-lt"/>
              </a:rPr>
              <a:t>Name</a:t>
            </a:r>
            <a:endParaRPr lang="en-US">
              <a:solidFill>
                <a:schemeClr val="accent6"/>
              </a:solidFill>
              <a:latin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 txBox="1"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0" i="0" u="none" strike="noStrike" kern="1200" cap="none" spc="0" normalizeH="0" baseline="0" noProof="1" dirty="0">
                <a:solidFill>
                  <a:schemeClr val="tx1"/>
                </a:solidFill>
                <a:uFillTx/>
                <a:latin typeface="+mj-lt"/>
                <a:sym typeface="+mn-ea"/>
              </a:defRPr>
            </a:lvl1pPr>
          </a:lstStyle>
          <a:p>
            <a:pPr lvl="0" algn="l"/>
            <a:r>
              <a:rPr>
                <a:ea typeface="+mj-ea"/>
                <a:cs typeface="+mn-ea"/>
                <a:sym typeface="+mn-ea"/>
              </a:rPr>
              <a:t>Introduction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56010" y="1977629"/>
            <a:ext cx="8227219" cy="340399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AWS WAF (Web Application Firewall) is a security service that protects web applications from common web exploits and attacks.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 txBox="1"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0" i="0" u="none" strike="noStrike" kern="1200" cap="none" spc="0" normalizeH="0" baseline="0" noProof="1" dirty="0">
                <a:solidFill>
                  <a:schemeClr val="tx1"/>
                </a:solidFill>
                <a:uFillTx/>
                <a:latin typeface="+mj-lt"/>
                <a:sym typeface="+mn-ea"/>
              </a:defRPr>
            </a:lvl1pPr>
          </a:lstStyle>
          <a:p>
            <a:pPr lvl="0" algn="l"/>
            <a:r>
              <a:rPr>
                <a:ea typeface="+mj-ea"/>
                <a:cs typeface="+mn-ea"/>
                <a:sym typeface="+mn-ea"/>
              </a:rPr>
              <a:t>What is a Web Application Firewall?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56010" y="1977629"/>
            <a:ext cx="8227219" cy="340399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A Web Application Firewall filters, monitors, and blocks malicious HTTP and HTTPS traffic to web applications.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 txBox="1"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0" i="0" u="none" strike="noStrike" kern="1200" cap="none" spc="0" normalizeH="0" baseline="0" noProof="1" dirty="0">
                <a:solidFill>
                  <a:schemeClr val="tx1"/>
                </a:solidFill>
                <a:uFillTx/>
                <a:latin typeface="+mj-lt"/>
                <a:sym typeface="+mn-ea"/>
              </a:defRPr>
            </a:lvl1pPr>
          </a:lstStyle>
          <a:p>
            <a:pPr lvl="0" algn="l"/>
            <a:r>
              <a:rPr>
                <a:ea typeface="+mj-ea"/>
                <a:cs typeface="+mn-ea"/>
                <a:sym typeface="+mn-ea"/>
              </a:rPr>
              <a:t>Why AWS WAF?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56010" y="1977629"/>
            <a:ext cx="8227219" cy="340399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Protects web applications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Blocks malicious traffic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Prevents common attacks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Improves security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Easy integration with AWS services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 txBox="1"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0" i="0" u="none" strike="noStrike" kern="1200" cap="none" spc="0" normalizeH="0" baseline="0" noProof="1" dirty="0">
                <a:solidFill>
                  <a:schemeClr val="tx1"/>
                </a:solidFill>
                <a:uFillTx/>
                <a:latin typeface="+mj-lt"/>
                <a:sym typeface="+mn-ea"/>
              </a:defRPr>
            </a:lvl1pPr>
          </a:lstStyle>
          <a:p>
            <a:pPr lvl="0" algn="l"/>
            <a:r>
              <a:rPr>
                <a:ea typeface="+mj-ea"/>
                <a:cs typeface="+mn-ea"/>
                <a:sym typeface="+mn-ea"/>
              </a:rPr>
              <a:t>Features of AWS WAF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56010" y="1977629"/>
            <a:ext cx="8227219" cy="340399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Custom security rules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Real-time monitoring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IP filtering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Rate limiting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Bot protection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 txBox="1"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0" i="0" u="none" strike="noStrike" kern="1200" cap="none" spc="0" normalizeH="0" baseline="0" noProof="1" dirty="0">
                <a:solidFill>
                  <a:schemeClr val="tx1"/>
                </a:solidFill>
                <a:uFillTx/>
                <a:latin typeface="+mj-lt"/>
                <a:sym typeface="+mn-ea"/>
              </a:defRPr>
            </a:lvl1pPr>
          </a:lstStyle>
          <a:p>
            <a:pPr lvl="0" algn="l"/>
            <a:r>
              <a:rPr>
                <a:ea typeface="+mj-ea"/>
                <a:cs typeface="+mn-ea"/>
                <a:sym typeface="+mn-ea"/>
              </a:rPr>
              <a:t>How AWS WAF Works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56010" y="1977629"/>
            <a:ext cx="8227219" cy="340399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1. User sends web request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2. AWS WAF inspects request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3. Rules are evaluated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4. Malicious requests blocked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5. Valid requests forwarded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 txBox="1"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0" i="0" u="none" strike="noStrike" kern="1200" cap="none" spc="0" normalizeH="0" baseline="0" noProof="1" dirty="0">
                <a:solidFill>
                  <a:schemeClr val="tx1"/>
                </a:solidFill>
                <a:uFillTx/>
                <a:latin typeface="+mj-lt"/>
                <a:sym typeface="+mn-ea"/>
              </a:defRPr>
            </a:lvl1pPr>
          </a:lstStyle>
          <a:p>
            <a:pPr lvl="0" algn="l"/>
            <a:r>
              <a:rPr>
                <a:ea typeface="+mj-ea"/>
                <a:cs typeface="+mn-ea"/>
                <a:sym typeface="+mn-ea"/>
              </a:rPr>
              <a:t>Common Attacks Prevented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56010" y="1977629"/>
            <a:ext cx="8227219" cy="340399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SQL Injection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Cross-Site Scripting (XSS)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DDoS attacks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Bot attacks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HTTP flood attacks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 txBox="1"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0" i="0" u="none" strike="noStrike" kern="1200" cap="none" spc="0" normalizeH="0" baseline="0" noProof="1" dirty="0">
                <a:solidFill>
                  <a:schemeClr val="tx1"/>
                </a:solidFill>
                <a:uFillTx/>
                <a:latin typeface="+mj-lt"/>
                <a:sym typeface="+mn-ea"/>
              </a:defRPr>
            </a:lvl1pPr>
          </a:lstStyle>
          <a:p>
            <a:pPr lvl="0" algn="l"/>
            <a:r>
              <a:rPr>
                <a:ea typeface="+mj-ea"/>
                <a:cs typeface="+mn-ea"/>
                <a:sym typeface="+mn-ea"/>
              </a:rPr>
              <a:t>Components of AWS WAF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56010" y="1977629"/>
            <a:ext cx="8227219" cy="340399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Web ACLs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Rules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Rule Groups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Conditions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IP Sets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 txBox="1"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0" i="0" u="none" strike="noStrike" kern="1200" cap="none" spc="0" normalizeH="0" baseline="0" noProof="1" dirty="0">
                <a:solidFill>
                  <a:schemeClr val="tx1"/>
                </a:solidFill>
                <a:uFillTx/>
                <a:latin typeface="+mj-lt"/>
                <a:sym typeface="+mn-ea"/>
              </a:defRPr>
            </a:lvl1pPr>
          </a:lstStyle>
          <a:p>
            <a:pPr lvl="0" algn="l"/>
            <a:r>
              <a:rPr>
                <a:ea typeface="+mj-ea"/>
                <a:cs typeface="+mn-ea"/>
                <a:sym typeface="+mn-ea"/>
              </a:rPr>
              <a:t>Web ACL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56010" y="1977629"/>
            <a:ext cx="8227219" cy="340399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A Web Access Control List (Web ACL) is used to define security rules for web applications.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 txBox="1"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0" i="0" u="none" strike="noStrike" kern="1200" cap="none" spc="0" normalizeH="0" baseline="0" noProof="1" dirty="0">
                <a:solidFill>
                  <a:schemeClr val="tx1"/>
                </a:solidFill>
                <a:uFillTx/>
                <a:latin typeface="+mj-lt"/>
                <a:sym typeface="+mn-ea"/>
              </a:defRPr>
            </a:lvl1pPr>
          </a:lstStyle>
          <a:p>
            <a:pPr lvl="0" algn="l"/>
            <a:r>
              <a:rPr>
                <a:ea typeface="+mj-ea"/>
                <a:cs typeface="+mn-ea"/>
                <a:sym typeface="+mn-ea"/>
              </a:rPr>
              <a:t>Rate Limiting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56010" y="1977629"/>
            <a:ext cx="8227219" cy="340399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AWS WAF can limit the number of requests from a single IP to prevent abuse and attacks.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 txBox="1"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0" i="0" u="none" strike="noStrike" kern="1200" cap="none" spc="0" normalizeH="0" baseline="0" noProof="1" dirty="0">
                <a:solidFill>
                  <a:schemeClr val="tx1"/>
                </a:solidFill>
                <a:uFillTx/>
                <a:latin typeface="+mj-lt"/>
                <a:sym typeface="+mn-ea"/>
              </a:defRPr>
            </a:lvl1pPr>
          </a:lstStyle>
          <a:p>
            <a:pPr lvl="0" algn="l"/>
            <a:r>
              <a:rPr>
                <a:ea typeface="+mj-ea"/>
                <a:cs typeface="+mn-ea"/>
                <a:sym typeface="+mn-ea"/>
              </a:rPr>
              <a:t>Integration with AWS Services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56010" y="1977629"/>
            <a:ext cx="8227219" cy="340399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AWS WAF integrates with: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CloudFront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Application Load Balancer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API Gateway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AWS AppSync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 txBox="1"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0" i="0" u="none" strike="noStrike" kern="1200" cap="none" spc="0" normalizeH="0" baseline="0" noProof="1" dirty="0">
                <a:solidFill>
                  <a:schemeClr val="tx1"/>
                </a:solidFill>
                <a:uFillTx/>
                <a:latin typeface="+mj-lt"/>
                <a:sym typeface="+mn-ea"/>
              </a:defRPr>
            </a:lvl1pPr>
          </a:lstStyle>
          <a:p>
            <a:pPr lvl="0" algn="l"/>
            <a:r>
              <a:rPr>
                <a:ea typeface="+mj-ea"/>
                <a:cs typeface="+mn-ea"/>
                <a:sym typeface="+mn-ea"/>
              </a:rPr>
              <a:t>Monitoring and Logging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56010" y="1977629"/>
            <a:ext cx="8227219" cy="340399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AWS CloudWatch and AWS Kinesis help monitor and analyze web traffic and attacks.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 txBox="1"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0" i="0" u="none" strike="noStrike" kern="1200" cap="none" spc="0" normalizeH="0" baseline="0" noProof="1" dirty="0">
                <a:solidFill>
                  <a:schemeClr val="tx1"/>
                </a:solidFill>
                <a:uFillTx/>
                <a:latin typeface="+mj-lt"/>
                <a:sym typeface="+mn-ea"/>
              </a:defRPr>
            </a:lvl1pPr>
          </a:lstStyle>
          <a:p>
            <a:pPr lvl="0" algn="l"/>
            <a:r>
              <a:rPr>
                <a:ea typeface="+mj-ea"/>
                <a:cs typeface="+mn-ea"/>
                <a:sym typeface="+mn-ea"/>
              </a:rPr>
              <a:t>Real-Time Use Case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56010" y="1977629"/>
            <a:ext cx="8227219" cy="340399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E-commerce Website:</a:t>
            </a:r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AWS WAF blocks malicious traffic and protects customer payment information from attackers.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 txBox="1"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0" i="0" u="none" strike="noStrike" kern="1200" cap="none" spc="0" normalizeH="0" baseline="0" noProof="1" dirty="0">
                <a:solidFill>
                  <a:schemeClr val="tx1"/>
                </a:solidFill>
                <a:uFillTx/>
                <a:latin typeface="+mj-lt"/>
                <a:sym typeface="+mn-ea"/>
              </a:defRPr>
            </a:lvl1pPr>
          </a:lstStyle>
          <a:p>
            <a:pPr lvl="0" algn="l"/>
            <a:r>
              <a:rPr>
                <a:ea typeface="+mj-ea"/>
                <a:cs typeface="+mn-ea"/>
                <a:sym typeface="+mn-ea"/>
              </a:rPr>
              <a:t>Advantages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56010" y="1977629"/>
            <a:ext cx="8227219" cy="340399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Improved application security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Easy deployment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Scalable protection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Real-time monitoring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Flexible rule creation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 txBox="1"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0" i="0" u="none" strike="noStrike" kern="1200" cap="none" spc="0" normalizeH="0" baseline="0" noProof="1" dirty="0">
                <a:solidFill>
                  <a:schemeClr val="tx1"/>
                </a:solidFill>
                <a:uFillTx/>
                <a:latin typeface="+mj-lt"/>
                <a:sym typeface="+mn-ea"/>
              </a:defRPr>
            </a:lvl1pPr>
          </a:lstStyle>
          <a:p>
            <a:pPr lvl="0" algn="l"/>
            <a:r>
              <a:rPr>
                <a:ea typeface="+mj-ea"/>
                <a:cs typeface="+mn-ea"/>
                <a:sym typeface="+mn-ea"/>
              </a:rPr>
              <a:t>Limitations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56010" y="1977629"/>
            <a:ext cx="8227219" cy="340399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Additional cost for high traffic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Requires proper rule configuration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Learning curve for beginners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 txBox="1"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0" i="0" u="none" strike="noStrike" kern="1200" cap="none" spc="0" normalizeH="0" baseline="0" noProof="1" dirty="0">
                <a:solidFill>
                  <a:schemeClr val="tx1"/>
                </a:solidFill>
                <a:uFillTx/>
                <a:latin typeface="+mj-lt"/>
                <a:sym typeface="+mn-ea"/>
              </a:defRPr>
            </a:lvl1pPr>
          </a:lstStyle>
          <a:p>
            <a:pPr lvl="0" algn="l"/>
            <a:r>
              <a:rPr>
                <a:ea typeface="+mj-ea"/>
                <a:cs typeface="+mn-ea"/>
                <a:sym typeface="+mn-ea"/>
              </a:rPr>
              <a:t>Conclusion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56010" y="1977629"/>
            <a:ext cx="8227219" cy="340399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AWS WAF helps organizations secure web applications by filtering and blocking malicious traffic effectively.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档副标题内容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  <p:tag name="KSO_WM_UNIT_CONTENT_GROUP_TYPE" val="contentchip"/>
</p:tagLst>
</file>

<file path=ppt/tags/tag4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  <p:tag name="KSO_WM_UNIT_CONTENT_GROUP_TYPE" val="contentchip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  <p:tag name="KSO_WM_UNIT_PRESET_TEXT" val="单击此处添加标题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VALUE" val="846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4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2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25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  <p:tag name="KSO_WM_UNIT_CONTENT_GROUP_TYPE" val="titlestyle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30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  <p:tag name="KSO_WM_UNIT_CONTENT_GROUP_TYPE" val="titlestyle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  <p:tag name="KSO_WM_UNIT_CONTENT_GROUP_TYPE" val="titlestyle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  <p:tag name="KSO_WM_UNIT_PLACING_PICTURE_USER_VIEWPORT" val="{&quot;height&quot;:752,&quot;width&quot;:17274}"/>
  <p:tag name="KSO_WM_UNIT_CONTENT_GROUP_TYPE" val="titlestyle"/>
</p:tagLst>
</file>

<file path=ppt/tags/tag49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  <p:tag name="KSO_WM_UNIT_CONTENT_GROUP_TYPE" val="titlestyle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54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的耐心观看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  <p:tag name="KSO_WM_UNIT_CONTENT_GROUP_TYPE" val="contentchip"/>
</p:tagLst>
</file>

<file path=ppt/tags/tag55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  <p:tag name="KSO_WM_UNIT_CONTENT_GROUP_TYPE" val="contentchip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3460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3460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5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60"/>
  <p:tag name="KSO_WM_SPECIAL_SOURCE" val="bdnull"/>
  <p:tag name="KSO_WM_TEMPLATE_THUMBS_INDEX" val="1、11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60_1*a*1"/>
  <p:tag name="KSO_WM_TEMPLATE_CATEGORY" val="custom"/>
  <p:tag name="KSO_WM_TEMPLATE_INDEX" val="20233460"/>
  <p:tag name="KSO_WM_UNIT_LAYERLEVEL" val="1"/>
  <p:tag name="KSO_WM_TAG_VERSION" val="3.0"/>
  <p:tag name="KSO_WM_BEAUTIFY_FLAG" val="#wm#"/>
  <p:tag name="KSO_WM_UNIT_CONTENT_GROUP_TYPE" val="contentchip"/>
  <p:tag name="KSO_WM_UNIT_PRESET_TEXT" val="Your title here"/>
</p:tagLst>
</file>

<file path=ppt/tags/tag67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3460_1*f*1"/>
  <p:tag name="KSO_WM_TEMPLATE_CATEGORY" val="custom"/>
  <p:tag name="KSO_WM_TEMPLATE_INDEX" val="20233460"/>
  <p:tag name="KSO_WM_UNIT_LAYERLEVEL" val="1"/>
  <p:tag name="KSO_WM_TAG_VERSION" val="3.0"/>
  <p:tag name="KSO_WM_BEAUTIFY_FLAG" val="#wm#"/>
  <p:tag name="KSO_WM_UNIT_CONTENT_GROUP_TYPE" val="contentchip"/>
  <p:tag name="KSO_WM_UNIT_PRESET_TEXT" val="Name"/>
</p:tagLst>
</file>

<file path=ppt/tags/tag68.xml><?xml version="1.0" encoding="utf-8"?>
<p:tagLst xmlns:p="http://schemas.openxmlformats.org/presentationml/2006/main">
  <p:tag name="KSO_WM_SLIDE_ID" val="custom20233460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60"/>
  <p:tag name="KSO_WM_SLIDE_TYPE" val="title"/>
  <p:tag name="KSO_WM_SLIDE_SUBTYPE" val="pureTxt"/>
  <p:tag name="KSO_WM_SLIDE_LAYOUT" val="a_b_f"/>
  <p:tag name="KSO_WM_SLIDE_LAYOUT_CNT" val="1_1_1"/>
  <p:tag name="KSO_WM_SPECIAL_SOURCE" val="bdnull"/>
  <p:tag name="KSO_WM_TEMPLATE_THUMBS_INDEX" val="1、11"/>
  <p:tag name="KSO_WM_SLIDE_CONTENT_AREA" val="{&quot;left&quot;:&quot;52.2&quot;,&quot;top&quot;:&quot;111.9&quot;,&quot;width&quot;:&quot;620.7&quot;,&quot;height&quot;:&quot;260.55&quot;}"/>
  <p:tag name="KSO_WM_SLIDE_THEME_ID" val="3302552"/>
  <p:tag name="KSO_WM_SLIDE_THEME_NAME" val="White Chinoiserie"/>
</p:tagLst>
</file>

<file path=ppt/tags/tag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  <p:tag name="KSO_WM_UNIT_PRESET_TEXT" val="单击此处添加标题"/>
</p:tagLst>
</file>

<file path=ppt/tags/tag7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VALUE" val="846"/>
</p:tagLst>
</file>

<file path=ppt/tags/tag71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72.xml><?xml version="1.0" encoding="utf-8"?>
<p:tagLst xmlns:p="http://schemas.openxmlformats.org/presentationml/2006/main">
  <p:tag name="KSO_WM_SLIDE_TYPE" val="text"/>
  <p:tag name="KSO_WM_BEAUTIFY_FLAG" val="#wm#"/>
</p:tagLst>
</file>

<file path=ppt/tags/tag73.xml><?xml version="1.0" encoding="utf-8"?>
<p:tagLst xmlns:p="http://schemas.openxmlformats.org/presentationml/2006/main">
  <p:tag name="KSO_WM_UNIT_TEXT" val="Introduction"/>
  <p:tag name="KSO_WM_UNIT_INDEX" val="1"/>
  <p:tag name="KSO_WM_UNIT_TYPE" val="a"/>
  <p:tag name="KSO_WM_BEAUTIFY_FLAG" val="#wm#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  <p:tag name="KSO_WM_UNIT_PRESET_TEXT" val="单击此处添加标题"/>
</p:tagLst>
</file>

<file path=ppt/tags/tag7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VALUE" val="846"/>
</p:tagLst>
</file>

<file path=ppt/tags/tag75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76.xml><?xml version="1.0" encoding="utf-8"?>
<p:tagLst xmlns:p="http://schemas.openxmlformats.org/presentationml/2006/main">
  <p:tag name="KSO_WM_SLIDE_TYPE" val="text"/>
  <p:tag name="KSO_WM_BEAUTIFY_FLAG" val="#wm#"/>
</p:tagLst>
</file>

<file path=ppt/tags/tag77.xml><?xml version="1.0" encoding="utf-8"?>
<p:tagLst xmlns:p="http://schemas.openxmlformats.org/presentationml/2006/main">
  <p:tag name="KSO_WM_UNIT_TEXT" val="What is a Web Application Firewall?"/>
  <p:tag name="KSO_WM_UNIT_INDEX" val="1"/>
  <p:tag name="KSO_WM_UNIT_TYPE" val="a"/>
  <p:tag name="KSO_WM_BEAUTIFY_FLAG" val="#wm#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  <p:tag name="KSO_WM_UNIT_PRESET_TEXT" val="单击此处添加标题"/>
</p:tagLst>
</file>

<file path=ppt/tags/tag7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VALUE" val="846"/>
</p:tagLst>
</file>

<file path=ppt/tags/tag79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80.xml><?xml version="1.0" encoding="utf-8"?>
<p:tagLst xmlns:p="http://schemas.openxmlformats.org/presentationml/2006/main">
  <p:tag name="KSO_WM_SLIDE_TYPE" val="text"/>
  <p:tag name="KSO_WM_BEAUTIFY_FLAG" val="#wm#"/>
</p:tagLst>
</file>

<file path=ppt/tags/tag81.xml><?xml version="1.0" encoding="utf-8"?>
<p:tagLst xmlns:p="http://schemas.openxmlformats.org/presentationml/2006/main">
  <p:tag name="KSO_WM_UNIT_TEXT" val="Why AWS WAF?"/>
  <p:tag name="KSO_WM_UNIT_INDEX" val="1"/>
  <p:tag name="KSO_WM_UNIT_TYPE" val="a"/>
  <p:tag name="KSO_WM_BEAUTIFY_FLAG" val="#wm#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  <p:tag name="KSO_WM_UNIT_PRESET_TEXT" val="单击此处添加标题"/>
</p:tagLst>
</file>

<file path=ppt/tags/tag8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VALUE" val="846"/>
</p:tagLst>
</file>

<file path=ppt/tags/tag83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84.xml><?xml version="1.0" encoding="utf-8"?>
<p:tagLst xmlns:p="http://schemas.openxmlformats.org/presentationml/2006/main">
  <p:tag name="KSO_WM_SLIDE_TYPE" val="text"/>
  <p:tag name="KSO_WM_BEAUTIFY_FLAG" val="#wm#"/>
</p:tagLst>
</file>

<file path=ppt/tags/tag85.xml><?xml version="1.0" encoding="utf-8"?>
<p:tagLst xmlns:p="http://schemas.openxmlformats.org/presentationml/2006/main">
  <p:tag name="KSO_WM_UNIT_TEXT" val="Features of AWS WAF"/>
  <p:tag name="KSO_WM_UNIT_INDEX" val="1"/>
  <p:tag name="KSO_WM_UNIT_TYPE" val="a"/>
  <p:tag name="KSO_WM_BEAUTIFY_FLAG" val="#wm#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  <p:tag name="KSO_WM_UNIT_PRESET_TEXT" val="单击此处添加标题"/>
</p:tagLst>
</file>

<file path=ppt/tags/tag8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VALUE" val="846"/>
</p:tagLst>
</file>

<file path=ppt/tags/tag87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88.xml><?xml version="1.0" encoding="utf-8"?>
<p:tagLst xmlns:p="http://schemas.openxmlformats.org/presentationml/2006/main">
  <p:tag name="KSO_WM_SLIDE_TYPE" val="text"/>
  <p:tag name="KSO_WM_BEAUTIFY_FLAG" val="#wm#"/>
</p:tagLst>
</file>

<file path=ppt/tags/tag89.xml><?xml version="1.0" encoding="utf-8"?>
<p:tagLst xmlns:p="http://schemas.openxmlformats.org/presentationml/2006/main">
  <p:tag name="KSO_WM_UNIT_TEXT" val="How AWS WAF Works"/>
  <p:tag name="KSO_WM_UNIT_INDEX" val="1"/>
  <p:tag name="KSO_WM_UNIT_TYPE" val="a"/>
  <p:tag name="KSO_WM_BEAUTIFY_FLAG" val="#wm#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  <p:tag name="KSO_WM_UNIT_PRESET_TEXT" val="单击此处添加标题"/>
</p:tagLst>
</file>

<file path=ppt/tags/tag9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VALUE" val="846"/>
</p:tagLst>
</file>

<file path=ppt/tags/tag91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92.xml><?xml version="1.0" encoding="utf-8"?>
<p:tagLst xmlns:p="http://schemas.openxmlformats.org/presentationml/2006/main">
  <p:tag name="KSO_WM_SLIDE_TYPE" val="text"/>
  <p:tag name="KSO_WM_BEAUTIFY_FLAG" val="#wm#"/>
</p:tagLst>
</file>

<file path=ppt/tags/tag93.xml><?xml version="1.0" encoding="utf-8"?>
<p:tagLst xmlns:p="http://schemas.openxmlformats.org/presentationml/2006/main">
  <p:tag name="KSO_WM_UNIT_TEXT" val="Common Attacks Prevented"/>
  <p:tag name="KSO_WM_UNIT_INDEX" val="1"/>
  <p:tag name="KSO_WM_UNIT_TYPE" val="a"/>
  <p:tag name="KSO_WM_BEAUTIFY_FLAG" val="#wm#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  <p:tag name="KSO_WM_UNIT_PRESET_TEXT" val="单击此处添加标题"/>
</p:tagLst>
</file>

<file path=ppt/tags/tag9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VALUE" val="846"/>
</p:tagLst>
</file>

<file path=ppt/tags/tag95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96.xml><?xml version="1.0" encoding="utf-8"?>
<p:tagLst xmlns:p="http://schemas.openxmlformats.org/presentationml/2006/main">
  <p:tag name="KSO_WM_SLIDE_TYPE" val="text"/>
  <p:tag name="KSO_WM_BEAUTIFY_FLAG" val="#wm#"/>
</p:tagLst>
</file>

<file path=ppt/tags/tag97.xml><?xml version="1.0" encoding="utf-8"?>
<p:tagLst xmlns:p="http://schemas.openxmlformats.org/presentationml/2006/main">
  <p:tag name="KSO_WM_UNIT_TEXT" val="Components of AWS WAF"/>
  <p:tag name="KSO_WM_UNIT_INDEX" val="1"/>
  <p:tag name="KSO_WM_UNIT_TYPE" val="a"/>
  <p:tag name="KSO_WM_BEAUTIFY_FLAG" val="#wm#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  <p:tag name="KSO_WM_UNIT_PRESET_TEXT" val="单击此处添加标题"/>
</p:tagLst>
</file>

<file path=ppt/tags/tag9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VALUE" val="846"/>
</p:tagLst>
</file>

<file path=ppt/tags/tag99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00.xml><?xml version="1.0" encoding="utf-8"?>
<p:tagLst xmlns:p="http://schemas.openxmlformats.org/presentationml/2006/main">
  <p:tag name="KSO_WM_SLIDE_TYPE" val="text"/>
  <p:tag name="KSO_WM_BEAUTIFY_FLAG" val="#wm#"/>
</p:tagLst>
</file>

<file path=ppt/tags/tag101.xml><?xml version="1.0" encoding="utf-8"?>
<p:tagLst xmlns:p="http://schemas.openxmlformats.org/presentationml/2006/main">
  <p:tag name="KSO_WM_UNIT_TEXT" val="Web ACL"/>
  <p:tag name="KSO_WM_UNIT_INDEX" val="1"/>
  <p:tag name="KSO_WM_UNIT_TYPE" val="a"/>
  <p:tag name="KSO_WM_BEAUTIFY_FLAG" val="#wm#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  <p:tag name="KSO_WM_UNIT_PRESET_TEXT" val="单击此处添加标题"/>
</p:tagLst>
</file>

<file path=ppt/tags/tag10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VALUE" val="846"/>
</p:tagLst>
</file>

<file path=ppt/tags/tag103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04.xml><?xml version="1.0" encoding="utf-8"?>
<p:tagLst xmlns:p="http://schemas.openxmlformats.org/presentationml/2006/main">
  <p:tag name="KSO_WM_SLIDE_TYPE" val="text"/>
  <p:tag name="KSO_WM_BEAUTIFY_FLAG" val="#wm#"/>
</p:tagLst>
</file>

<file path=ppt/tags/tag105.xml><?xml version="1.0" encoding="utf-8"?>
<p:tagLst xmlns:p="http://schemas.openxmlformats.org/presentationml/2006/main">
  <p:tag name="KSO_WM_UNIT_TEXT" val="Rate Limiting"/>
  <p:tag name="KSO_WM_UNIT_INDEX" val="1"/>
  <p:tag name="KSO_WM_UNIT_TYPE" val="a"/>
  <p:tag name="KSO_WM_BEAUTIFY_FLAG" val="#wm#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  <p:tag name="KSO_WM_UNIT_PRESET_TEXT" val="单击此处添加标题"/>
</p:tagLst>
</file>

<file path=ppt/tags/tag10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VALUE" val="846"/>
</p:tagLst>
</file>

<file path=ppt/tags/tag107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08.xml><?xml version="1.0" encoding="utf-8"?>
<p:tagLst xmlns:p="http://schemas.openxmlformats.org/presentationml/2006/main">
  <p:tag name="KSO_WM_SLIDE_TYPE" val="text"/>
  <p:tag name="KSO_WM_BEAUTIFY_FLAG" val="#wm#"/>
</p:tagLst>
</file>

<file path=ppt/tags/tag109.xml><?xml version="1.0" encoding="utf-8"?>
<p:tagLst xmlns:p="http://schemas.openxmlformats.org/presentationml/2006/main">
  <p:tag name="KSO_WM_UNIT_TEXT" val="Integration with AWS Services"/>
  <p:tag name="KSO_WM_UNIT_INDEX" val="1"/>
  <p:tag name="KSO_WM_UNIT_TYPE" val="a"/>
  <p:tag name="KSO_WM_BEAUTIFY_FLAG" val="#wm#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  <p:tag name="KSO_WM_UNIT_PRESET_TEXT" val="单击此处添加标题"/>
</p:tagLst>
</file>

<file path=ppt/tags/tag11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VALUE" val="846"/>
</p:tagLst>
</file>

<file path=ppt/tags/tag111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12.xml><?xml version="1.0" encoding="utf-8"?>
<p:tagLst xmlns:p="http://schemas.openxmlformats.org/presentationml/2006/main">
  <p:tag name="KSO_WM_SLIDE_TYPE" val="text"/>
  <p:tag name="KSO_WM_BEAUTIFY_FLAG" val="#wm#"/>
</p:tagLst>
</file>

<file path=ppt/tags/tag113.xml><?xml version="1.0" encoding="utf-8"?>
<p:tagLst xmlns:p="http://schemas.openxmlformats.org/presentationml/2006/main">
  <p:tag name="KSO_WM_UNIT_TEXT" val="Monitoring and Logging"/>
  <p:tag name="KSO_WM_UNIT_INDEX" val="1"/>
  <p:tag name="KSO_WM_UNIT_TYPE" val="a"/>
  <p:tag name="KSO_WM_BEAUTIFY_FLAG" val="#wm#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  <p:tag name="KSO_WM_UNIT_PRESET_TEXT" val="单击此处添加标题"/>
</p:tagLst>
</file>

<file path=ppt/tags/tag11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VALUE" val="846"/>
</p:tagLst>
</file>

<file path=ppt/tags/tag115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16.xml><?xml version="1.0" encoding="utf-8"?>
<p:tagLst xmlns:p="http://schemas.openxmlformats.org/presentationml/2006/main">
  <p:tag name="KSO_WM_SLIDE_TYPE" val="text"/>
  <p:tag name="KSO_WM_BEAUTIFY_FLAG" val="#wm#"/>
</p:tagLst>
</file>

<file path=ppt/tags/tag117.xml><?xml version="1.0" encoding="utf-8"?>
<p:tagLst xmlns:p="http://schemas.openxmlformats.org/presentationml/2006/main">
  <p:tag name="KSO_WM_UNIT_TEXT" val="Real-Time Use Case"/>
  <p:tag name="KSO_WM_UNIT_INDEX" val="1"/>
  <p:tag name="KSO_WM_UNIT_TYPE" val="a"/>
  <p:tag name="KSO_WM_BEAUTIFY_FLAG" val="#wm#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  <p:tag name="KSO_WM_UNIT_PRESET_TEXT" val="单击此处添加标题"/>
</p:tagLst>
</file>

<file path=ppt/tags/tag11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VALUE" val="846"/>
</p:tagLst>
</file>

<file path=ppt/tags/tag119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20.xml><?xml version="1.0" encoding="utf-8"?>
<p:tagLst xmlns:p="http://schemas.openxmlformats.org/presentationml/2006/main">
  <p:tag name="KSO_WM_SLIDE_TYPE" val="text"/>
  <p:tag name="KSO_WM_BEAUTIFY_FLAG" val="#wm#"/>
</p:tagLst>
</file>

<file path=ppt/tags/tag121.xml><?xml version="1.0" encoding="utf-8"?>
<p:tagLst xmlns:p="http://schemas.openxmlformats.org/presentationml/2006/main">
  <p:tag name="KSO_WM_UNIT_TEXT" val="Advantages"/>
  <p:tag name="KSO_WM_UNIT_INDEX" val="1"/>
  <p:tag name="KSO_WM_UNIT_TYPE" val="a"/>
  <p:tag name="KSO_WM_BEAUTIFY_FLAG" val="#wm#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  <p:tag name="KSO_WM_UNIT_PRESET_TEXT" val="单击此处添加标题"/>
</p:tagLst>
</file>

<file path=ppt/tags/tag12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VALUE" val="846"/>
</p:tagLst>
</file>

<file path=ppt/tags/tag123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24.xml><?xml version="1.0" encoding="utf-8"?>
<p:tagLst xmlns:p="http://schemas.openxmlformats.org/presentationml/2006/main">
  <p:tag name="KSO_WM_SLIDE_TYPE" val="text"/>
  <p:tag name="KSO_WM_BEAUTIFY_FLAG" val="#wm#"/>
</p:tagLst>
</file>

<file path=ppt/tags/tag125.xml><?xml version="1.0" encoding="utf-8"?>
<p:tagLst xmlns:p="http://schemas.openxmlformats.org/presentationml/2006/main">
  <p:tag name="KSO_WM_UNIT_TEXT" val="Limitations"/>
  <p:tag name="KSO_WM_UNIT_INDEX" val="1"/>
  <p:tag name="KSO_WM_UNIT_TYPE" val="a"/>
  <p:tag name="KSO_WM_BEAUTIFY_FLAG" val="#wm#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  <p:tag name="KSO_WM_UNIT_PRESET_TEXT" val="单击此处添加标题"/>
</p:tagLst>
</file>

<file path=ppt/tags/tag12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VALUE" val="846"/>
</p:tagLst>
</file>

<file path=ppt/tags/tag127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28.xml><?xml version="1.0" encoding="utf-8"?>
<p:tagLst xmlns:p="http://schemas.openxmlformats.org/presentationml/2006/main">
  <p:tag name="KSO_WM_SLIDE_TYPE" val="text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66">
      <a:dk1>
        <a:sysClr val="windowText" lastClr="000000"/>
      </a:dk1>
      <a:lt1>
        <a:sysClr val="window" lastClr="FFFFFF"/>
      </a:lt1>
      <a:dk2>
        <a:srgbClr val="3D4842"/>
      </a:dk2>
      <a:lt2>
        <a:srgbClr val="E5E8E6"/>
      </a:lt2>
      <a:accent1>
        <a:srgbClr val="7D9085"/>
      </a:accent1>
      <a:accent2>
        <a:srgbClr val="8B7D74"/>
      </a:accent2>
      <a:accent3>
        <a:srgbClr val="996A64"/>
      </a:accent3>
      <a:accent4>
        <a:srgbClr val="A75853"/>
      </a:accent4>
      <a:accent5>
        <a:srgbClr val="B54543"/>
      </a:accent5>
      <a:accent6>
        <a:srgbClr val="C33232"/>
      </a:accent6>
      <a:hlink>
        <a:srgbClr val="658BD5"/>
      </a:hlink>
      <a:folHlink>
        <a:srgbClr val="A16AA5"/>
      </a:folHlink>
    </a:clrScheme>
    <a:fontScheme name="Crimson Text SemiBold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1799</Words>
  <Application>WPS Presentation</Application>
  <PresentationFormat>On-screen Show (4:3)</PresentationFormat>
  <Paragraphs>95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Wingdings</vt:lpstr>
      <vt:lpstr>Crimson Text SemiBold</vt:lpstr>
      <vt:lpstr>Segoe Print</vt:lpstr>
      <vt:lpstr>Charis SIL</vt:lpstr>
      <vt:lpstr>Office Theme</vt:lpstr>
      <vt:lpstr>1_Office Theme</vt:lpstr>
      <vt:lpstr>Your title here</vt:lpstr>
      <vt:lpstr>Introduction</vt:lpstr>
      <vt:lpstr>What is a Web Application Firewall?</vt:lpstr>
      <vt:lpstr>Why AWS WAF?</vt:lpstr>
      <vt:lpstr>Features of AWS WAF</vt:lpstr>
      <vt:lpstr>How AWS WAF Works</vt:lpstr>
      <vt:lpstr>Common Attacks Prevented</vt:lpstr>
      <vt:lpstr>Components of AWS WAF</vt:lpstr>
      <vt:lpstr>Web ACL</vt:lpstr>
      <vt:lpstr>Rate Limiting</vt:lpstr>
      <vt:lpstr>Integration with AWS Services</vt:lpstr>
      <vt:lpstr>Monitoring and Logging</vt:lpstr>
      <vt:lpstr>Real-Time Use Case</vt:lpstr>
      <vt:lpstr>Advantages</vt:lpstr>
      <vt:lpstr>Limitations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pinky Addabottu</cp:lastModifiedBy>
  <cp:revision>2</cp:revision>
  <dcterms:created xsi:type="dcterms:W3CDTF">2013-01-27T09:14:00Z</dcterms:created>
  <dcterms:modified xsi:type="dcterms:W3CDTF">2026-05-11T18:39:18Z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DD39BF0BE7F0482C8CBB3D7F3BFAC4D3_13</vt:lpwstr>
  </property>
</Properties>
</file>